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7"/>
  </p:notesMasterIdLst>
  <p:sldIdLst>
    <p:sldId id="256" r:id="rId2"/>
    <p:sldId id="258" r:id="rId3"/>
    <p:sldId id="262" r:id="rId4"/>
    <p:sldId id="259" r:id="rId5"/>
    <p:sldId id="260" r:id="rId6"/>
  </p:sldIdLst>
  <p:sldSz cx="18288000" cy="10287000"/>
  <p:notesSz cx="6858000" cy="9144000"/>
  <p:embeddedFontLst>
    <p:embeddedFont>
      <p:font typeface="Space Mono" panose="02010509030202000204"/>
      <p:regular r:id="rId8"/>
      <p:bold r:id="rId9"/>
      <p:italic r:id="rId10"/>
      <p:boldItalic r:id="rId11"/>
    </p:embeddedFont>
    <p:embeddedFont>
      <p:font typeface="Work Sans" pitchFamily="2" charset="77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49"/>
    <p:restoredTop sz="94694"/>
  </p:normalViewPr>
  <p:slideViewPr>
    <p:cSldViewPr snapToGrid="0">
      <p:cViewPr varScale="1">
        <p:scale>
          <a:sx n="80" d="100"/>
          <a:sy n="80" d="100"/>
        </p:scale>
        <p:origin x="1328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1A1A1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>
            <a:spLocks noGrp="1"/>
          </p:cNvSpPr>
          <p:nvPr>
            <p:ph type="pic" idx="2"/>
          </p:nvPr>
        </p:nvSpPr>
        <p:spPr>
          <a:xfrm>
            <a:off x="-3350" y="-8400"/>
            <a:ext cx="18288000" cy="103038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807425" y="2869950"/>
            <a:ext cx="10576800" cy="45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9000"/>
              <a:buFont typeface="Space Mono"/>
              <a:buNone/>
              <a:defRPr sz="9000" b="1" i="0" u="none" strike="noStrike" cap="none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4"/>
          <p:cNvGrpSpPr/>
          <p:nvPr/>
        </p:nvGrpSpPr>
        <p:grpSpPr>
          <a:xfrm>
            <a:off x="9296400" y="558254"/>
            <a:ext cx="8325463" cy="9062441"/>
            <a:chOff x="0" y="-28575"/>
            <a:chExt cx="2192700" cy="2386800"/>
          </a:xfrm>
        </p:grpSpPr>
        <p:sp>
          <p:nvSpPr>
            <p:cNvPr id="20" name="Google Shape;20;p4"/>
            <p:cNvSpPr/>
            <p:nvPr/>
          </p:nvSpPr>
          <p:spPr>
            <a:xfrm>
              <a:off x="0" y="0"/>
              <a:ext cx="2192553" cy="2358124"/>
            </a:xfrm>
            <a:custGeom>
              <a:avLst/>
              <a:gdLst/>
              <a:ahLst/>
              <a:cxnLst/>
              <a:rect l="l" t="t" r="r" b="b"/>
              <a:pathLst>
                <a:path w="2192553" h="2358124" extrusionOk="0">
                  <a:moveTo>
                    <a:pt x="27899" y="0"/>
                  </a:moveTo>
                  <a:lnTo>
                    <a:pt x="2164654" y="0"/>
                  </a:lnTo>
                  <a:cubicBezTo>
                    <a:pt x="2180062" y="0"/>
                    <a:pt x="2192553" y="12491"/>
                    <a:pt x="2192553" y="27899"/>
                  </a:cubicBezTo>
                  <a:lnTo>
                    <a:pt x="2192553" y="2330224"/>
                  </a:lnTo>
                  <a:cubicBezTo>
                    <a:pt x="2192553" y="2345633"/>
                    <a:pt x="2180062" y="2358124"/>
                    <a:pt x="2164654" y="2358124"/>
                  </a:cubicBezTo>
                  <a:lnTo>
                    <a:pt x="27899" y="2358124"/>
                  </a:lnTo>
                  <a:cubicBezTo>
                    <a:pt x="20500" y="2358124"/>
                    <a:pt x="13404" y="2355184"/>
                    <a:pt x="8172" y="2349952"/>
                  </a:cubicBezTo>
                  <a:cubicBezTo>
                    <a:pt x="2939" y="2344720"/>
                    <a:pt x="0" y="2337624"/>
                    <a:pt x="0" y="2330224"/>
                  </a:cubicBezTo>
                  <a:lnTo>
                    <a:pt x="0" y="27899"/>
                  </a:lnTo>
                  <a:cubicBezTo>
                    <a:pt x="0" y="12491"/>
                    <a:pt x="12491" y="0"/>
                    <a:pt x="27899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 txBox="1"/>
            <p:nvPr/>
          </p:nvSpPr>
          <p:spPr>
            <a:xfrm>
              <a:off x="0" y="-28575"/>
              <a:ext cx="2192700" cy="238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739778"/>
            <a:ext cx="8229600" cy="38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E4F925"/>
              </a:buClr>
              <a:buSzPts val="7000"/>
              <a:buFont typeface="Space Mono"/>
              <a:buNone/>
              <a:defRPr sz="7000" b="1" i="0" u="none" strike="noStrike" cap="none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9951400" y="1439000"/>
            <a:ext cx="7015500" cy="75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»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5"/>
          <p:cNvGrpSpPr/>
          <p:nvPr/>
        </p:nvGrpSpPr>
        <p:grpSpPr>
          <a:xfrm>
            <a:off x="1509464" y="2169355"/>
            <a:ext cx="3504705" cy="3784857"/>
            <a:chOff x="0" y="-57150"/>
            <a:chExt cx="949270" cy="1025151"/>
          </a:xfrm>
        </p:grpSpPr>
        <p:sp>
          <p:nvSpPr>
            <p:cNvPr id="26" name="Google Shape;26;p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5"/>
            <p:cNvSpPr txBox="1"/>
            <p:nvPr/>
          </p:nvSpPr>
          <p:spPr>
            <a:xfrm>
              <a:off x="0" y="-57150"/>
              <a:ext cx="949200" cy="102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8;p5"/>
          <p:cNvGrpSpPr/>
          <p:nvPr/>
        </p:nvGrpSpPr>
        <p:grpSpPr>
          <a:xfrm>
            <a:off x="9352391" y="2169355"/>
            <a:ext cx="3504705" cy="3784857"/>
            <a:chOff x="0" y="-57150"/>
            <a:chExt cx="949270" cy="1025151"/>
          </a:xfrm>
        </p:grpSpPr>
        <p:sp>
          <p:nvSpPr>
            <p:cNvPr id="29" name="Google Shape;29;p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5"/>
            <p:cNvSpPr txBox="1"/>
            <p:nvPr/>
          </p:nvSpPr>
          <p:spPr>
            <a:xfrm>
              <a:off x="0" y="-57150"/>
              <a:ext cx="949200" cy="102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31;p5"/>
          <p:cNvGrpSpPr/>
          <p:nvPr/>
        </p:nvGrpSpPr>
        <p:grpSpPr>
          <a:xfrm>
            <a:off x="5430928" y="4769480"/>
            <a:ext cx="3504705" cy="3784857"/>
            <a:chOff x="0" y="-57150"/>
            <a:chExt cx="949270" cy="1025151"/>
          </a:xfrm>
        </p:grpSpPr>
        <p:sp>
          <p:nvSpPr>
            <p:cNvPr id="32" name="Google Shape;32;p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"/>
            <p:cNvSpPr txBox="1"/>
            <p:nvPr/>
          </p:nvSpPr>
          <p:spPr>
            <a:xfrm>
              <a:off x="0" y="-57150"/>
              <a:ext cx="949200" cy="102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5"/>
          <p:cNvGrpSpPr/>
          <p:nvPr/>
        </p:nvGrpSpPr>
        <p:grpSpPr>
          <a:xfrm>
            <a:off x="13273855" y="4769480"/>
            <a:ext cx="3504705" cy="3784857"/>
            <a:chOff x="0" y="-57150"/>
            <a:chExt cx="949270" cy="1025151"/>
          </a:xfrm>
        </p:grpSpPr>
        <p:sp>
          <p:nvSpPr>
            <p:cNvPr id="35" name="Google Shape;35;p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 txBox="1"/>
            <p:nvPr/>
          </p:nvSpPr>
          <p:spPr>
            <a:xfrm>
              <a:off x="0" y="-57150"/>
              <a:ext cx="949200" cy="102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7" name="Google Shape;37;p5"/>
          <p:cNvCxnSpPr/>
          <p:nvPr/>
        </p:nvCxnSpPr>
        <p:spPr>
          <a:xfrm>
            <a:off x="3261805" y="5954189"/>
            <a:ext cx="2169000" cy="813300"/>
          </a:xfrm>
          <a:prstGeom prst="straightConnector1">
            <a:avLst/>
          </a:prstGeom>
          <a:noFill/>
          <a:ln w="57150" cap="flat" cmpd="sng">
            <a:solidFill>
              <a:srgbClr val="E4F925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" name="Google Shape;38;p5"/>
          <p:cNvCxnSpPr/>
          <p:nvPr/>
        </p:nvCxnSpPr>
        <p:spPr>
          <a:xfrm rot="10800000" flipH="1">
            <a:off x="7183268" y="4167178"/>
            <a:ext cx="2169000" cy="813300"/>
          </a:xfrm>
          <a:prstGeom prst="straightConnector1">
            <a:avLst/>
          </a:prstGeom>
          <a:noFill/>
          <a:ln w="57150" cap="flat" cmpd="sng">
            <a:solidFill>
              <a:srgbClr val="E4F925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" name="Google Shape;39;p5"/>
          <p:cNvCxnSpPr/>
          <p:nvPr/>
        </p:nvCxnSpPr>
        <p:spPr>
          <a:xfrm>
            <a:off x="11104732" y="5954189"/>
            <a:ext cx="2169000" cy="1022400"/>
          </a:xfrm>
          <a:prstGeom prst="straightConnector1">
            <a:avLst/>
          </a:prstGeom>
          <a:noFill/>
          <a:ln w="57150" cap="flat" cmpd="sng">
            <a:solidFill>
              <a:srgbClr val="E4F925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457200" y="739775"/>
            <a:ext cx="17524200" cy="1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E4F925"/>
              </a:buClr>
              <a:buSzPts val="7000"/>
              <a:buFont typeface="Space Mono"/>
              <a:buNone/>
              <a:defRPr sz="7000" b="1" i="0" u="none" strike="noStrike" cap="none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2"/>
          </p:nvPr>
        </p:nvSpPr>
        <p:spPr>
          <a:xfrm>
            <a:off x="1760625" y="2612900"/>
            <a:ext cx="3002400" cy="2468400"/>
          </a:xfrm>
          <a:prstGeom prst="roundRect">
            <a:avLst>
              <a:gd name="adj" fmla="val 11837"/>
            </a:avLst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3"/>
          </p:nvPr>
        </p:nvSpPr>
        <p:spPr>
          <a:xfrm>
            <a:off x="5682088" y="5231200"/>
            <a:ext cx="3002400" cy="2468400"/>
          </a:xfrm>
          <a:prstGeom prst="roundRect">
            <a:avLst>
              <a:gd name="adj" fmla="val 11837"/>
            </a:avLst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4"/>
          </p:nvPr>
        </p:nvSpPr>
        <p:spPr>
          <a:xfrm>
            <a:off x="9603525" y="2612900"/>
            <a:ext cx="3002400" cy="2468400"/>
          </a:xfrm>
          <a:prstGeom prst="roundRect">
            <a:avLst>
              <a:gd name="adj" fmla="val 11837"/>
            </a:avLst>
          </a:prstGeom>
          <a:noFill/>
          <a:ln>
            <a:noFill/>
          </a:ln>
        </p:spPr>
      </p:sp>
      <p:sp>
        <p:nvSpPr>
          <p:cNvPr id="44" name="Google Shape;44;p5"/>
          <p:cNvSpPr>
            <a:spLocks noGrp="1"/>
          </p:cNvSpPr>
          <p:nvPr>
            <p:ph type="pic" idx="5"/>
          </p:nvPr>
        </p:nvSpPr>
        <p:spPr>
          <a:xfrm>
            <a:off x="13525000" y="5231200"/>
            <a:ext cx="3002400" cy="2468400"/>
          </a:xfrm>
          <a:prstGeom prst="roundRect">
            <a:avLst>
              <a:gd name="adj" fmla="val 11837"/>
            </a:avLst>
          </a:prstGeom>
          <a:noFill/>
          <a:ln>
            <a:noFill/>
          </a:ln>
        </p:spPr>
      </p:sp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1760625" y="5231200"/>
            <a:ext cx="300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>
              <a:spcBef>
                <a:spcPts val="64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36550" algn="l">
              <a:spcBef>
                <a:spcPts val="56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36550" algn="l">
              <a:spcBef>
                <a:spcPts val="48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3655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3655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»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3655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3655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3655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3655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6"/>
          </p:nvPr>
        </p:nvSpPr>
        <p:spPr>
          <a:xfrm>
            <a:off x="5682075" y="7820575"/>
            <a:ext cx="300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spcBef>
                <a:spcPts val="64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36550" algn="l" rtl="0">
              <a:spcBef>
                <a:spcPts val="56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36550" algn="l" rtl="0">
              <a:spcBef>
                <a:spcPts val="48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»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7"/>
          </p:nvPr>
        </p:nvSpPr>
        <p:spPr>
          <a:xfrm>
            <a:off x="9603538" y="5240700"/>
            <a:ext cx="300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spcBef>
                <a:spcPts val="64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36550" algn="l" rtl="0">
              <a:spcBef>
                <a:spcPts val="56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36550" algn="l" rtl="0">
              <a:spcBef>
                <a:spcPts val="48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»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8"/>
          </p:nvPr>
        </p:nvSpPr>
        <p:spPr>
          <a:xfrm>
            <a:off x="13524988" y="7820575"/>
            <a:ext cx="300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spcBef>
                <a:spcPts val="64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36550" algn="l" rtl="0">
              <a:spcBef>
                <a:spcPts val="56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36550" algn="l" rtl="0">
              <a:spcBef>
                <a:spcPts val="48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–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»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Work Sans"/>
              <a:buChar char="•"/>
              <a:defRPr sz="17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rgbClr val="E4F925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6"/>
          <p:cNvGrpSpPr/>
          <p:nvPr/>
        </p:nvGrpSpPr>
        <p:grpSpPr>
          <a:xfrm>
            <a:off x="9296400" y="558254"/>
            <a:ext cx="8325463" cy="9062441"/>
            <a:chOff x="0" y="-28575"/>
            <a:chExt cx="2192700" cy="2386800"/>
          </a:xfrm>
        </p:grpSpPr>
        <p:sp>
          <p:nvSpPr>
            <p:cNvPr id="51" name="Google Shape;51;p6"/>
            <p:cNvSpPr/>
            <p:nvPr/>
          </p:nvSpPr>
          <p:spPr>
            <a:xfrm>
              <a:off x="0" y="0"/>
              <a:ext cx="2192553" cy="2358124"/>
            </a:xfrm>
            <a:custGeom>
              <a:avLst/>
              <a:gdLst/>
              <a:ahLst/>
              <a:cxnLst/>
              <a:rect l="l" t="t" r="r" b="b"/>
              <a:pathLst>
                <a:path w="2192553" h="2358124" extrusionOk="0">
                  <a:moveTo>
                    <a:pt x="27899" y="0"/>
                  </a:moveTo>
                  <a:lnTo>
                    <a:pt x="2164654" y="0"/>
                  </a:lnTo>
                  <a:cubicBezTo>
                    <a:pt x="2180062" y="0"/>
                    <a:pt x="2192553" y="12491"/>
                    <a:pt x="2192553" y="27899"/>
                  </a:cubicBezTo>
                  <a:lnTo>
                    <a:pt x="2192553" y="2330224"/>
                  </a:lnTo>
                  <a:cubicBezTo>
                    <a:pt x="2192553" y="2345633"/>
                    <a:pt x="2180062" y="2358124"/>
                    <a:pt x="2164654" y="2358124"/>
                  </a:cubicBezTo>
                  <a:lnTo>
                    <a:pt x="27899" y="2358124"/>
                  </a:lnTo>
                  <a:cubicBezTo>
                    <a:pt x="20500" y="2358124"/>
                    <a:pt x="13404" y="2355184"/>
                    <a:pt x="8172" y="2349952"/>
                  </a:cubicBezTo>
                  <a:cubicBezTo>
                    <a:pt x="2939" y="2344720"/>
                    <a:pt x="0" y="2337624"/>
                    <a:pt x="0" y="2330224"/>
                  </a:cubicBezTo>
                  <a:lnTo>
                    <a:pt x="0" y="27899"/>
                  </a:lnTo>
                  <a:cubicBezTo>
                    <a:pt x="0" y="12491"/>
                    <a:pt x="12491" y="0"/>
                    <a:pt x="27899" y="0"/>
                  </a:cubicBezTo>
                  <a:close/>
                </a:path>
              </a:pathLst>
            </a:custGeom>
            <a:solidFill>
              <a:srgbClr val="0D4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 txBox="1"/>
            <p:nvPr/>
          </p:nvSpPr>
          <p:spPr>
            <a:xfrm>
              <a:off x="0" y="-28575"/>
              <a:ext cx="2192700" cy="238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6"/>
          <p:cNvGrpSpPr/>
          <p:nvPr/>
        </p:nvGrpSpPr>
        <p:grpSpPr>
          <a:xfrm>
            <a:off x="666750" y="558254"/>
            <a:ext cx="8325463" cy="9062441"/>
            <a:chOff x="0" y="-28575"/>
            <a:chExt cx="2192700" cy="2386800"/>
          </a:xfrm>
        </p:grpSpPr>
        <p:sp>
          <p:nvSpPr>
            <p:cNvPr id="54" name="Google Shape;54;p6"/>
            <p:cNvSpPr/>
            <p:nvPr/>
          </p:nvSpPr>
          <p:spPr>
            <a:xfrm>
              <a:off x="0" y="0"/>
              <a:ext cx="2192553" cy="2358124"/>
            </a:xfrm>
            <a:custGeom>
              <a:avLst/>
              <a:gdLst/>
              <a:ahLst/>
              <a:cxnLst/>
              <a:rect l="l" t="t" r="r" b="b"/>
              <a:pathLst>
                <a:path w="2192553" h="2358124" extrusionOk="0">
                  <a:moveTo>
                    <a:pt x="27899" y="0"/>
                  </a:moveTo>
                  <a:lnTo>
                    <a:pt x="2164654" y="0"/>
                  </a:lnTo>
                  <a:cubicBezTo>
                    <a:pt x="2180062" y="0"/>
                    <a:pt x="2192553" y="12491"/>
                    <a:pt x="2192553" y="27899"/>
                  </a:cubicBezTo>
                  <a:lnTo>
                    <a:pt x="2192553" y="2330224"/>
                  </a:lnTo>
                  <a:cubicBezTo>
                    <a:pt x="2192553" y="2345633"/>
                    <a:pt x="2180062" y="2358124"/>
                    <a:pt x="2164654" y="2358124"/>
                  </a:cubicBezTo>
                  <a:lnTo>
                    <a:pt x="27899" y="2358124"/>
                  </a:lnTo>
                  <a:cubicBezTo>
                    <a:pt x="20500" y="2358124"/>
                    <a:pt x="13404" y="2355184"/>
                    <a:pt x="8172" y="2349952"/>
                  </a:cubicBezTo>
                  <a:cubicBezTo>
                    <a:pt x="2939" y="2344720"/>
                    <a:pt x="0" y="2337624"/>
                    <a:pt x="0" y="2330224"/>
                  </a:cubicBezTo>
                  <a:lnTo>
                    <a:pt x="0" y="27899"/>
                  </a:lnTo>
                  <a:cubicBezTo>
                    <a:pt x="0" y="12491"/>
                    <a:pt x="12491" y="0"/>
                    <a:pt x="27899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 txBox="1"/>
            <p:nvPr/>
          </p:nvSpPr>
          <p:spPr>
            <a:xfrm>
              <a:off x="0" y="-28575"/>
              <a:ext cx="2192700" cy="238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1198250" y="1001725"/>
            <a:ext cx="72621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0D4D47"/>
              </a:buClr>
              <a:buSzPts val="4500"/>
              <a:buFont typeface="Space Mono"/>
              <a:buNone/>
              <a:defRPr sz="4500" b="1" i="0" u="none" strike="noStrike" cap="none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1198250" y="2476750"/>
            <a:ext cx="72621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»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title" idx="2"/>
          </p:nvPr>
        </p:nvSpPr>
        <p:spPr>
          <a:xfrm>
            <a:off x="9827950" y="1001725"/>
            <a:ext cx="72621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4500"/>
              <a:buFont typeface="Space Mono"/>
              <a:buNone/>
              <a:defRPr sz="4500" b="1" i="0" u="none" strike="noStrike" cap="none">
                <a:latin typeface="Space Mono"/>
                <a:ea typeface="Space Mono"/>
                <a:cs typeface="Space Mono"/>
                <a:sym typeface="Space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75D385"/>
              </a:buClr>
              <a:buSzPts val="7000"/>
              <a:buNone/>
              <a:defRPr sz="7000">
                <a:solidFill>
                  <a:srgbClr val="75D385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3"/>
          </p:nvPr>
        </p:nvSpPr>
        <p:spPr>
          <a:xfrm>
            <a:off x="9827950" y="2476750"/>
            <a:ext cx="72621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»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>
            <a:spLocks noGrp="1"/>
          </p:cNvSpPr>
          <p:nvPr>
            <p:ph type="pic" idx="4"/>
          </p:nvPr>
        </p:nvSpPr>
        <p:spPr>
          <a:xfrm>
            <a:off x="1198250" y="3952925"/>
            <a:ext cx="7262100" cy="5088000"/>
          </a:xfrm>
          <a:prstGeom prst="roundRect">
            <a:avLst>
              <a:gd name="adj" fmla="val 4305"/>
            </a:avLst>
          </a:prstGeom>
          <a:noFill/>
          <a:ln>
            <a:noFill/>
          </a:ln>
        </p:spPr>
      </p:sp>
      <p:sp>
        <p:nvSpPr>
          <p:cNvPr id="61" name="Google Shape;61;p6"/>
          <p:cNvSpPr>
            <a:spLocks noGrp="1"/>
          </p:cNvSpPr>
          <p:nvPr>
            <p:ph type="pic" idx="5"/>
          </p:nvPr>
        </p:nvSpPr>
        <p:spPr>
          <a:xfrm>
            <a:off x="9827950" y="3952925"/>
            <a:ext cx="7262100" cy="5088000"/>
          </a:xfrm>
          <a:prstGeom prst="roundRect">
            <a:avLst>
              <a:gd name="adj" fmla="val 4305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D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E4F925"/>
              </a:buClr>
              <a:buSzPts val="4400"/>
              <a:buFont typeface="Space Mono"/>
              <a:buNone/>
              <a:defRPr sz="4400" b="1" i="0" u="none" strike="noStrike" cap="none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–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»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9F9F9"/>
              </a:buClr>
              <a:buSzPts val="2000"/>
              <a:buFont typeface="Work Sans"/>
              <a:buChar char="•"/>
              <a:defRPr sz="2000" i="0" u="none" strike="noStrike" cap="none">
                <a:solidFill>
                  <a:srgbClr val="F9F9F9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D47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" y="-116050"/>
            <a:ext cx="18288000" cy="1040305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 txBox="1"/>
          <p:nvPr/>
        </p:nvSpPr>
        <p:spPr>
          <a:xfrm>
            <a:off x="7837017" y="712675"/>
            <a:ext cx="2613866" cy="553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9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Programming for Data Science</a:t>
            </a:r>
            <a:endParaRPr dirty="0"/>
          </a:p>
        </p:txBody>
      </p:sp>
      <p:sp>
        <p:nvSpPr>
          <p:cNvPr id="101" name="Google Shape;101;p12"/>
          <p:cNvSpPr txBox="1"/>
          <p:nvPr/>
        </p:nvSpPr>
        <p:spPr>
          <a:xfrm>
            <a:off x="1028650" y="2696756"/>
            <a:ext cx="16230600" cy="507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99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Renewable Energy and Socioeconomic Indicators</a:t>
            </a:r>
            <a:endParaRPr dirty="0"/>
          </a:p>
        </p:txBody>
      </p:sp>
      <p:sp>
        <p:nvSpPr>
          <p:cNvPr id="102" name="Google Shape;102;p12"/>
          <p:cNvSpPr txBox="1"/>
          <p:nvPr/>
        </p:nvSpPr>
        <p:spPr>
          <a:xfrm>
            <a:off x="2326750" y="9205025"/>
            <a:ext cx="136344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4F925"/>
                </a:solidFill>
                <a:latin typeface="Work Sans"/>
                <a:ea typeface="Work Sans"/>
                <a:cs typeface="Work Sans"/>
                <a:sym typeface="Work Sans"/>
              </a:rPr>
              <a:t>Group 05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D4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4"/>
          <p:cNvGrpSpPr/>
          <p:nvPr/>
        </p:nvGrpSpPr>
        <p:grpSpPr>
          <a:xfrm>
            <a:off x="4768933" y="3181834"/>
            <a:ext cx="8750133" cy="5115828"/>
            <a:chOff x="0" y="-57150"/>
            <a:chExt cx="949270" cy="492650"/>
          </a:xfrm>
        </p:grpSpPr>
        <p:sp>
          <p:nvSpPr>
            <p:cNvPr id="167" name="Google Shape;167;p14"/>
            <p:cNvSpPr/>
            <p:nvPr/>
          </p:nvSpPr>
          <p:spPr>
            <a:xfrm>
              <a:off x="0" y="0"/>
              <a:ext cx="949270" cy="435500"/>
            </a:xfrm>
            <a:custGeom>
              <a:avLst/>
              <a:gdLst/>
              <a:ahLst/>
              <a:cxnLst/>
              <a:rect l="l" t="t" r="r" b="b"/>
              <a:pathLst>
                <a:path w="949270" h="435500" extrusionOk="0">
                  <a:moveTo>
                    <a:pt x="64440" y="0"/>
                  </a:moveTo>
                  <a:lnTo>
                    <a:pt x="884830" y="0"/>
                  </a:lnTo>
                  <a:cubicBezTo>
                    <a:pt x="920419" y="0"/>
                    <a:pt x="949270" y="28851"/>
                    <a:pt x="949270" y="64440"/>
                  </a:cubicBezTo>
                  <a:lnTo>
                    <a:pt x="949270" y="371061"/>
                  </a:lnTo>
                  <a:cubicBezTo>
                    <a:pt x="949270" y="388151"/>
                    <a:pt x="942481" y="404541"/>
                    <a:pt x="930396" y="416626"/>
                  </a:cubicBezTo>
                  <a:cubicBezTo>
                    <a:pt x="918311" y="428711"/>
                    <a:pt x="901921" y="435500"/>
                    <a:pt x="884830" y="435500"/>
                  </a:cubicBezTo>
                  <a:lnTo>
                    <a:pt x="64440" y="435500"/>
                  </a:lnTo>
                  <a:cubicBezTo>
                    <a:pt x="28851" y="435500"/>
                    <a:pt x="0" y="406650"/>
                    <a:pt x="0" y="371061"/>
                  </a:cubicBezTo>
                  <a:lnTo>
                    <a:pt x="0" y="64440"/>
                  </a:lnTo>
                  <a:cubicBezTo>
                    <a:pt x="0" y="47349"/>
                    <a:pt x="6789" y="30959"/>
                    <a:pt x="18874" y="18874"/>
                  </a:cubicBezTo>
                  <a:cubicBezTo>
                    <a:pt x="30959" y="6789"/>
                    <a:pt x="47349" y="0"/>
                    <a:pt x="64440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4"/>
            <p:cNvSpPr txBox="1"/>
            <p:nvPr/>
          </p:nvSpPr>
          <p:spPr>
            <a:xfrm>
              <a:off x="0" y="-57150"/>
              <a:ext cx="949270" cy="492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4"/>
          <p:cNvSpPr txBox="1"/>
          <p:nvPr/>
        </p:nvSpPr>
        <p:spPr>
          <a:xfrm>
            <a:off x="666750" y="733425"/>
            <a:ext cx="16959017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The Research Question</a:t>
            </a:r>
            <a:endParaRPr dirty="0"/>
          </a:p>
        </p:txBody>
      </p:sp>
      <p:sp>
        <p:nvSpPr>
          <p:cNvPr id="180" name="Google Shape;180;p14"/>
          <p:cNvSpPr txBox="1"/>
          <p:nvPr/>
        </p:nvSpPr>
        <p:spPr>
          <a:xfrm>
            <a:off x="5193631" y="5454781"/>
            <a:ext cx="7900736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What </a:t>
            </a:r>
            <a:r>
              <a:rPr lang="en-US" sz="2100" b="1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are the key socioeconomic indicators that are driving the adoption rate of renewable energy consumption for a given country profile?</a:t>
            </a:r>
            <a:endParaRPr lang="en-US" dirty="0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925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/>
          <p:nvPr/>
        </p:nvSpPr>
        <p:spPr>
          <a:xfrm>
            <a:off x="666750" y="733425"/>
            <a:ext cx="1659173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The Main Objectives</a:t>
            </a:r>
            <a:endParaRPr dirty="0"/>
          </a:p>
        </p:txBody>
      </p:sp>
      <p:grpSp>
        <p:nvGrpSpPr>
          <p:cNvPr id="246" name="Google Shape;246;p18"/>
          <p:cNvGrpSpPr/>
          <p:nvPr/>
        </p:nvGrpSpPr>
        <p:grpSpPr>
          <a:xfrm>
            <a:off x="657064" y="2886630"/>
            <a:ext cx="4019711" cy="5420595"/>
            <a:chOff x="0" y="-28575"/>
            <a:chExt cx="1058689" cy="1427646"/>
          </a:xfrm>
        </p:grpSpPr>
        <p:sp>
          <p:nvSpPr>
            <p:cNvPr id="247" name="Google Shape;247;p18"/>
            <p:cNvSpPr/>
            <p:nvPr/>
          </p:nvSpPr>
          <p:spPr>
            <a:xfrm>
              <a:off x="0" y="0"/>
              <a:ext cx="1058689" cy="1399071"/>
            </a:xfrm>
            <a:custGeom>
              <a:avLst/>
              <a:gdLst/>
              <a:ahLst/>
              <a:cxnLst/>
              <a:rect l="l" t="t" r="r" b="b"/>
              <a:pathLst>
                <a:path w="1058689" h="1399071" extrusionOk="0">
                  <a:moveTo>
                    <a:pt x="38520" y="0"/>
                  </a:moveTo>
                  <a:lnTo>
                    <a:pt x="1020169" y="0"/>
                  </a:lnTo>
                  <a:cubicBezTo>
                    <a:pt x="1030385" y="0"/>
                    <a:pt x="1040183" y="4058"/>
                    <a:pt x="1047407" y="11282"/>
                  </a:cubicBezTo>
                  <a:cubicBezTo>
                    <a:pt x="1054631" y="18506"/>
                    <a:pt x="1058689" y="28304"/>
                    <a:pt x="1058689" y="38520"/>
                  </a:cubicBezTo>
                  <a:lnTo>
                    <a:pt x="1058689" y="1360552"/>
                  </a:lnTo>
                  <a:cubicBezTo>
                    <a:pt x="1058689" y="1370768"/>
                    <a:pt x="1054631" y="1380565"/>
                    <a:pt x="1047407" y="1387789"/>
                  </a:cubicBezTo>
                  <a:cubicBezTo>
                    <a:pt x="1040183" y="1395013"/>
                    <a:pt x="1030385" y="1399071"/>
                    <a:pt x="1020169" y="1399071"/>
                  </a:cubicBezTo>
                  <a:lnTo>
                    <a:pt x="38520" y="1399071"/>
                  </a:lnTo>
                  <a:cubicBezTo>
                    <a:pt x="28304" y="1399071"/>
                    <a:pt x="18506" y="1395013"/>
                    <a:pt x="11282" y="1387789"/>
                  </a:cubicBezTo>
                  <a:cubicBezTo>
                    <a:pt x="4058" y="1380565"/>
                    <a:pt x="0" y="1370768"/>
                    <a:pt x="0" y="1360552"/>
                  </a:cubicBezTo>
                  <a:lnTo>
                    <a:pt x="0" y="38520"/>
                  </a:lnTo>
                  <a:cubicBezTo>
                    <a:pt x="0" y="28304"/>
                    <a:pt x="4058" y="18506"/>
                    <a:pt x="11282" y="11282"/>
                  </a:cubicBezTo>
                  <a:cubicBezTo>
                    <a:pt x="18506" y="4058"/>
                    <a:pt x="28304" y="0"/>
                    <a:pt x="38520" y="0"/>
                  </a:cubicBezTo>
                  <a:close/>
                </a:path>
              </a:pathLst>
            </a:custGeom>
            <a:solidFill>
              <a:srgbClr val="75D3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8"/>
            <p:cNvSpPr txBox="1"/>
            <p:nvPr/>
          </p:nvSpPr>
          <p:spPr>
            <a:xfrm>
              <a:off x="0" y="-28575"/>
              <a:ext cx="1058689" cy="1427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8"/>
          <p:cNvGrpSpPr/>
          <p:nvPr/>
        </p:nvGrpSpPr>
        <p:grpSpPr>
          <a:xfrm>
            <a:off x="4981575" y="2886630"/>
            <a:ext cx="4019711" cy="5420595"/>
            <a:chOff x="0" y="-28575"/>
            <a:chExt cx="1058689" cy="1427646"/>
          </a:xfrm>
        </p:grpSpPr>
        <p:sp>
          <p:nvSpPr>
            <p:cNvPr id="250" name="Google Shape;250;p18"/>
            <p:cNvSpPr/>
            <p:nvPr/>
          </p:nvSpPr>
          <p:spPr>
            <a:xfrm>
              <a:off x="0" y="0"/>
              <a:ext cx="1058689" cy="1399071"/>
            </a:xfrm>
            <a:custGeom>
              <a:avLst/>
              <a:gdLst/>
              <a:ahLst/>
              <a:cxnLst/>
              <a:rect l="l" t="t" r="r" b="b"/>
              <a:pathLst>
                <a:path w="1058689" h="1399071" extrusionOk="0">
                  <a:moveTo>
                    <a:pt x="38520" y="0"/>
                  </a:moveTo>
                  <a:lnTo>
                    <a:pt x="1020169" y="0"/>
                  </a:lnTo>
                  <a:cubicBezTo>
                    <a:pt x="1030385" y="0"/>
                    <a:pt x="1040183" y="4058"/>
                    <a:pt x="1047407" y="11282"/>
                  </a:cubicBezTo>
                  <a:cubicBezTo>
                    <a:pt x="1054631" y="18506"/>
                    <a:pt x="1058689" y="28304"/>
                    <a:pt x="1058689" y="38520"/>
                  </a:cubicBezTo>
                  <a:lnTo>
                    <a:pt x="1058689" y="1360552"/>
                  </a:lnTo>
                  <a:cubicBezTo>
                    <a:pt x="1058689" y="1370768"/>
                    <a:pt x="1054631" y="1380565"/>
                    <a:pt x="1047407" y="1387789"/>
                  </a:cubicBezTo>
                  <a:cubicBezTo>
                    <a:pt x="1040183" y="1395013"/>
                    <a:pt x="1030385" y="1399071"/>
                    <a:pt x="1020169" y="1399071"/>
                  </a:cubicBezTo>
                  <a:lnTo>
                    <a:pt x="38520" y="1399071"/>
                  </a:lnTo>
                  <a:cubicBezTo>
                    <a:pt x="28304" y="1399071"/>
                    <a:pt x="18506" y="1395013"/>
                    <a:pt x="11282" y="1387789"/>
                  </a:cubicBezTo>
                  <a:cubicBezTo>
                    <a:pt x="4058" y="1380565"/>
                    <a:pt x="0" y="1370768"/>
                    <a:pt x="0" y="1360552"/>
                  </a:cubicBezTo>
                  <a:lnTo>
                    <a:pt x="0" y="38520"/>
                  </a:lnTo>
                  <a:cubicBezTo>
                    <a:pt x="0" y="28304"/>
                    <a:pt x="4058" y="18506"/>
                    <a:pt x="11282" y="11282"/>
                  </a:cubicBezTo>
                  <a:cubicBezTo>
                    <a:pt x="18506" y="4058"/>
                    <a:pt x="28304" y="0"/>
                    <a:pt x="38520" y="0"/>
                  </a:cubicBezTo>
                  <a:close/>
                </a:path>
              </a:pathLst>
            </a:custGeom>
            <a:solidFill>
              <a:srgbClr val="0D4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8"/>
            <p:cNvSpPr txBox="1"/>
            <p:nvPr/>
          </p:nvSpPr>
          <p:spPr>
            <a:xfrm>
              <a:off x="0" y="-28575"/>
              <a:ext cx="1058689" cy="1427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18"/>
          <p:cNvGrpSpPr/>
          <p:nvPr/>
        </p:nvGrpSpPr>
        <p:grpSpPr>
          <a:xfrm>
            <a:off x="9306086" y="2886630"/>
            <a:ext cx="4019711" cy="5420595"/>
            <a:chOff x="0" y="-28575"/>
            <a:chExt cx="1058689" cy="1427646"/>
          </a:xfrm>
        </p:grpSpPr>
        <p:sp>
          <p:nvSpPr>
            <p:cNvPr id="253" name="Google Shape;253;p18"/>
            <p:cNvSpPr/>
            <p:nvPr/>
          </p:nvSpPr>
          <p:spPr>
            <a:xfrm>
              <a:off x="0" y="0"/>
              <a:ext cx="1058689" cy="1399071"/>
            </a:xfrm>
            <a:custGeom>
              <a:avLst/>
              <a:gdLst/>
              <a:ahLst/>
              <a:cxnLst/>
              <a:rect l="l" t="t" r="r" b="b"/>
              <a:pathLst>
                <a:path w="1058689" h="1399071" extrusionOk="0">
                  <a:moveTo>
                    <a:pt x="38520" y="0"/>
                  </a:moveTo>
                  <a:lnTo>
                    <a:pt x="1020169" y="0"/>
                  </a:lnTo>
                  <a:cubicBezTo>
                    <a:pt x="1030385" y="0"/>
                    <a:pt x="1040183" y="4058"/>
                    <a:pt x="1047407" y="11282"/>
                  </a:cubicBezTo>
                  <a:cubicBezTo>
                    <a:pt x="1054631" y="18506"/>
                    <a:pt x="1058689" y="28304"/>
                    <a:pt x="1058689" y="38520"/>
                  </a:cubicBezTo>
                  <a:lnTo>
                    <a:pt x="1058689" y="1360552"/>
                  </a:lnTo>
                  <a:cubicBezTo>
                    <a:pt x="1058689" y="1370768"/>
                    <a:pt x="1054631" y="1380565"/>
                    <a:pt x="1047407" y="1387789"/>
                  </a:cubicBezTo>
                  <a:cubicBezTo>
                    <a:pt x="1040183" y="1395013"/>
                    <a:pt x="1030385" y="1399071"/>
                    <a:pt x="1020169" y="1399071"/>
                  </a:cubicBezTo>
                  <a:lnTo>
                    <a:pt x="38520" y="1399071"/>
                  </a:lnTo>
                  <a:cubicBezTo>
                    <a:pt x="28304" y="1399071"/>
                    <a:pt x="18506" y="1395013"/>
                    <a:pt x="11282" y="1387789"/>
                  </a:cubicBezTo>
                  <a:cubicBezTo>
                    <a:pt x="4058" y="1380565"/>
                    <a:pt x="0" y="1370768"/>
                    <a:pt x="0" y="1360552"/>
                  </a:cubicBezTo>
                  <a:lnTo>
                    <a:pt x="0" y="38520"/>
                  </a:lnTo>
                  <a:cubicBezTo>
                    <a:pt x="0" y="28304"/>
                    <a:pt x="4058" y="18506"/>
                    <a:pt x="11282" y="11282"/>
                  </a:cubicBezTo>
                  <a:cubicBezTo>
                    <a:pt x="18506" y="4058"/>
                    <a:pt x="28304" y="0"/>
                    <a:pt x="38520" y="0"/>
                  </a:cubicBezTo>
                  <a:close/>
                </a:path>
              </a:pathLst>
            </a:custGeom>
            <a:solidFill>
              <a:srgbClr val="75D3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8"/>
            <p:cNvSpPr txBox="1"/>
            <p:nvPr/>
          </p:nvSpPr>
          <p:spPr>
            <a:xfrm>
              <a:off x="0" y="-28575"/>
              <a:ext cx="1058689" cy="1427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18"/>
          <p:cNvGrpSpPr/>
          <p:nvPr/>
        </p:nvGrpSpPr>
        <p:grpSpPr>
          <a:xfrm>
            <a:off x="13611225" y="2886630"/>
            <a:ext cx="4019711" cy="5420595"/>
            <a:chOff x="0" y="-28575"/>
            <a:chExt cx="1058689" cy="1427646"/>
          </a:xfrm>
        </p:grpSpPr>
        <p:sp>
          <p:nvSpPr>
            <p:cNvPr id="256" name="Google Shape;256;p18"/>
            <p:cNvSpPr/>
            <p:nvPr/>
          </p:nvSpPr>
          <p:spPr>
            <a:xfrm>
              <a:off x="0" y="0"/>
              <a:ext cx="1058689" cy="1399071"/>
            </a:xfrm>
            <a:custGeom>
              <a:avLst/>
              <a:gdLst/>
              <a:ahLst/>
              <a:cxnLst/>
              <a:rect l="l" t="t" r="r" b="b"/>
              <a:pathLst>
                <a:path w="1058689" h="1399071" extrusionOk="0">
                  <a:moveTo>
                    <a:pt x="38520" y="0"/>
                  </a:moveTo>
                  <a:lnTo>
                    <a:pt x="1020169" y="0"/>
                  </a:lnTo>
                  <a:cubicBezTo>
                    <a:pt x="1030385" y="0"/>
                    <a:pt x="1040183" y="4058"/>
                    <a:pt x="1047407" y="11282"/>
                  </a:cubicBezTo>
                  <a:cubicBezTo>
                    <a:pt x="1054631" y="18506"/>
                    <a:pt x="1058689" y="28304"/>
                    <a:pt x="1058689" y="38520"/>
                  </a:cubicBezTo>
                  <a:lnTo>
                    <a:pt x="1058689" y="1360552"/>
                  </a:lnTo>
                  <a:cubicBezTo>
                    <a:pt x="1058689" y="1370768"/>
                    <a:pt x="1054631" y="1380565"/>
                    <a:pt x="1047407" y="1387789"/>
                  </a:cubicBezTo>
                  <a:cubicBezTo>
                    <a:pt x="1040183" y="1395013"/>
                    <a:pt x="1030385" y="1399071"/>
                    <a:pt x="1020169" y="1399071"/>
                  </a:cubicBezTo>
                  <a:lnTo>
                    <a:pt x="38520" y="1399071"/>
                  </a:lnTo>
                  <a:cubicBezTo>
                    <a:pt x="28304" y="1399071"/>
                    <a:pt x="18506" y="1395013"/>
                    <a:pt x="11282" y="1387789"/>
                  </a:cubicBezTo>
                  <a:cubicBezTo>
                    <a:pt x="4058" y="1380565"/>
                    <a:pt x="0" y="1370768"/>
                    <a:pt x="0" y="1360552"/>
                  </a:cubicBezTo>
                  <a:lnTo>
                    <a:pt x="0" y="38520"/>
                  </a:lnTo>
                  <a:cubicBezTo>
                    <a:pt x="0" y="28304"/>
                    <a:pt x="4058" y="18506"/>
                    <a:pt x="11282" y="11282"/>
                  </a:cubicBezTo>
                  <a:cubicBezTo>
                    <a:pt x="18506" y="4058"/>
                    <a:pt x="28304" y="0"/>
                    <a:pt x="38520" y="0"/>
                  </a:cubicBezTo>
                  <a:close/>
                </a:path>
              </a:pathLst>
            </a:custGeom>
            <a:solidFill>
              <a:srgbClr val="0D4D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8"/>
            <p:cNvSpPr txBox="1"/>
            <p:nvPr/>
          </p:nvSpPr>
          <p:spPr>
            <a:xfrm>
              <a:off x="0" y="-28575"/>
              <a:ext cx="1058689" cy="1427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8"/>
          <p:cNvSpPr txBox="1"/>
          <p:nvPr/>
        </p:nvSpPr>
        <p:spPr>
          <a:xfrm>
            <a:off x="1037692" y="7025775"/>
            <a:ext cx="22761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0" u="none" strike="noStrike" cap="none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01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5362376" y="7025775"/>
            <a:ext cx="18891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0" u="none" strike="noStrike" cap="none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02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9687063" y="7025775"/>
            <a:ext cx="20421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0" u="none" strike="noStrike" cap="none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14011610" y="7025775"/>
            <a:ext cx="32379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1" i="0" u="none" strike="noStrike" cap="none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04</a:t>
            </a:r>
            <a:endParaRPr/>
          </a:p>
        </p:txBody>
      </p:sp>
      <p:cxnSp>
        <p:nvCxnSpPr>
          <p:cNvPr id="266" name="Google Shape;266;p18"/>
          <p:cNvCxnSpPr/>
          <p:nvPr/>
        </p:nvCxnSpPr>
        <p:spPr>
          <a:xfrm>
            <a:off x="4462669" y="2756695"/>
            <a:ext cx="672052" cy="0"/>
          </a:xfrm>
          <a:prstGeom prst="straightConnector1">
            <a:avLst/>
          </a:prstGeom>
          <a:noFill/>
          <a:ln w="47625" cap="rnd" cmpd="sng">
            <a:solidFill>
              <a:srgbClr val="0D4D47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7" name="Google Shape;267;p18"/>
          <p:cNvCxnSpPr/>
          <p:nvPr/>
        </p:nvCxnSpPr>
        <p:spPr>
          <a:xfrm>
            <a:off x="8807974" y="2756695"/>
            <a:ext cx="672052" cy="0"/>
          </a:xfrm>
          <a:prstGeom prst="straightConnector1">
            <a:avLst/>
          </a:prstGeom>
          <a:noFill/>
          <a:ln w="47625" cap="rnd" cmpd="sng">
            <a:solidFill>
              <a:srgbClr val="0D4D47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8" name="Google Shape;268;p18"/>
          <p:cNvCxnSpPr/>
          <p:nvPr/>
        </p:nvCxnSpPr>
        <p:spPr>
          <a:xfrm>
            <a:off x="13151500" y="2756695"/>
            <a:ext cx="672052" cy="0"/>
          </a:xfrm>
          <a:prstGeom prst="straightConnector1">
            <a:avLst/>
          </a:prstGeom>
          <a:noFill/>
          <a:ln w="47625" cap="rnd" cmpd="sng">
            <a:solidFill>
              <a:srgbClr val="0D4D47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69" name="Google Shape;269;p18"/>
          <p:cNvSpPr txBox="1"/>
          <p:nvPr/>
        </p:nvSpPr>
        <p:spPr>
          <a:xfrm>
            <a:off x="1037663" y="3404701"/>
            <a:ext cx="3237921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Data Processing</a:t>
            </a:r>
            <a:endParaRPr sz="1200" dirty="0"/>
          </a:p>
        </p:txBody>
      </p:sp>
      <p:sp>
        <p:nvSpPr>
          <p:cNvPr id="270" name="Google Shape;270;p18"/>
          <p:cNvSpPr txBox="1"/>
          <p:nvPr/>
        </p:nvSpPr>
        <p:spPr>
          <a:xfrm>
            <a:off x="1037663" y="4681835"/>
            <a:ext cx="32379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D4D47"/>
                </a:solidFill>
                <a:latin typeface="Work Sans"/>
                <a:ea typeface="Work Sans"/>
                <a:cs typeface="Work Sans"/>
                <a:sym typeface="Work Sans"/>
              </a:rPr>
              <a:t>Transforming uncompiled raw datasets into one balanced panel data</a:t>
            </a:r>
            <a:endParaRPr sz="1300" dirty="0"/>
          </a:p>
        </p:txBody>
      </p:sp>
      <p:sp>
        <p:nvSpPr>
          <p:cNvPr id="271" name="Google Shape;271;p18"/>
          <p:cNvSpPr txBox="1"/>
          <p:nvPr/>
        </p:nvSpPr>
        <p:spPr>
          <a:xfrm>
            <a:off x="9696048" y="3404701"/>
            <a:ext cx="3237921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D4D47"/>
                </a:solidFill>
                <a:latin typeface="Space Mono"/>
                <a:sym typeface="Space Mono"/>
              </a:rPr>
              <a:t>Statistical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D4D47"/>
                </a:solidFill>
                <a:latin typeface="Space Mono"/>
                <a:sym typeface="Space Mono"/>
              </a:rPr>
              <a:t>Analysis</a:t>
            </a:r>
            <a:endParaRPr sz="1200" dirty="0"/>
          </a:p>
        </p:txBody>
      </p:sp>
      <p:sp>
        <p:nvSpPr>
          <p:cNvPr id="272" name="Google Shape;272;p18"/>
          <p:cNvSpPr txBox="1"/>
          <p:nvPr/>
        </p:nvSpPr>
        <p:spPr>
          <a:xfrm>
            <a:off x="9687063" y="4681835"/>
            <a:ext cx="32379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D4D47"/>
                </a:solidFill>
                <a:latin typeface="Work Sans"/>
                <a:sym typeface="Work Sans"/>
              </a:rPr>
              <a:t>Analyzing the significance of all the different variables based per classification</a:t>
            </a:r>
            <a:endParaRPr sz="1300" dirty="0"/>
          </a:p>
        </p:txBody>
      </p:sp>
      <p:sp>
        <p:nvSpPr>
          <p:cNvPr id="273" name="Google Shape;273;p18"/>
          <p:cNvSpPr txBox="1"/>
          <p:nvPr/>
        </p:nvSpPr>
        <p:spPr>
          <a:xfrm>
            <a:off x="5371337" y="3404701"/>
            <a:ext cx="3237921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Country Classification</a:t>
            </a:r>
            <a:endParaRPr sz="1200" dirty="0"/>
          </a:p>
        </p:txBody>
      </p:sp>
      <p:sp>
        <p:nvSpPr>
          <p:cNvPr id="274" name="Google Shape;274;p18"/>
          <p:cNvSpPr txBox="1"/>
          <p:nvPr/>
        </p:nvSpPr>
        <p:spPr>
          <a:xfrm>
            <a:off x="5371358" y="4674538"/>
            <a:ext cx="32379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E4F925"/>
                </a:solidFill>
                <a:latin typeface="Work Sans"/>
                <a:ea typeface="Work Sans"/>
                <a:cs typeface="Work Sans"/>
                <a:sym typeface="Work Sans"/>
              </a:rPr>
              <a:t>Grouping countries into different profiles based on socioeconomic indicators</a:t>
            </a:r>
            <a:endParaRPr sz="1300" dirty="0"/>
          </a:p>
        </p:txBody>
      </p:sp>
      <p:sp>
        <p:nvSpPr>
          <p:cNvPr id="275" name="Google Shape;275;p18"/>
          <p:cNvSpPr txBox="1"/>
          <p:nvPr/>
        </p:nvSpPr>
        <p:spPr>
          <a:xfrm>
            <a:off x="14020559" y="3404701"/>
            <a:ext cx="3237921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Effects Analysis</a:t>
            </a:r>
            <a:endParaRPr sz="1200" dirty="0"/>
          </a:p>
        </p:txBody>
      </p:sp>
      <p:sp>
        <p:nvSpPr>
          <p:cNvPr id="276" name="Google Shape;276;p18"/>
          <p:cNvSpPr txBox="1"/>
          <p:nvPr/>
        </p:nvSpPr>
        <p:spPr>
          <a:xfrm>
            <a:off x="14011610" y="4681835"/>
            <a:ext cx="32379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E4F925"/>
                </a:solidFill>
                <a:latin typeface="Work Sans"/>
                <a:ea typeface="Work Sans"/>
                <a:cs typeface="Work Sans"/>
                <a:sym typeface="Work Sans"/>
              </a:rPr>
              <a:t>Understanding the magnitude of the effects from the significance </a:t>
            </a:r>
            <a:r>
              <a:rPr lang="en-US" sz="2000" dirty="0">
                <a:solidFill>
                  <a:srgbClr val="E4F925"/>
                </a:solidFill>
                <a:latin typeface="Work Sans"/>
                <a:ea typeface="Work Sans"/>
                <a:cs typeface="Work Sans"/>
                <a:sym typeface="Work Sans"/>
              </a:rPr>
              <a:t>indicators</a:t>
            </a:r>
            <a:endParaRPr sz="1300" dirty="0"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D47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/>
        </p:nvSpPr>
        <p:spPr>
          <a:xfrm>
            <a:off x="666750" y="733425"/>
            <a:ext cx="146346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The Data Sources</a:t>
            </a:r>
            <a:endParaRPr dirty="0"/>
          </a:p>
        </p:txBody>
      </p:sp>
      <p:grpSp>
        <p:nvGrpSpPr>
          <p:cNvPr id="188" name="Google Shape;188;p15"/>
          <p:cNvGrpSpPr/>
          <p:nvPr/>
        </p:nvGrpSpPr>
        <p:grpSpPr>
          <a:xfrm>
            <a:off x="3225968" y="2714789"/>
            <a:ext cx="3504681" cy="3784832"/>
            <a:chOff x="0" y="-57150"/>
            <a:chExt cx="949270" cy="1025151"/>
          </a:xfrm>
        </p:grpSpPr>
        <p:sp>
          <p:nvSpPr>
            <p:cNvPr id="189" name="Google Shape;189;p1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5"/>
            <p:cNvSpPr txBox="1"/>
            <p:nvPr/>
          </p:nvSpPr>
          <p:spPr>
            <a:xfrm>
              <a:off x="0" y="-57150"/>
              <a:ext cx="949270" cy="1025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15"/>
          <p:cNvGrpSpPr/>
          <p:nvPr/>
        </p:nvGrpSpPr>
        <p:grpSpPr>
          <a:xfrm>
            <a:off x="11068895" y="2714789"/>
            <a:ext cx="3504681" cy="3784832"/>
            <a:chOff x="0" y="-57150"/>
            <a:chExt cx="949270" cy="1025151"/>
          </a:xfrm>
        </p:grpSpPr>
        <p:sp>
          <p:nvSpPr>
            <p:cNvPr id="193" name="Google Shape;193;p1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/>
            <p:cNvSpPr txBox="1"/>
            <p:nvPr/>
          </p:nvSpPr>
          <p:spPr>
            <a:xfrm>
              <a:off x="0" y="-57150"/>
              <a:ext cx="949270" cy="1025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5"/>
          <p:cNvSpPr txBox="1"/>
          <p:nvPr/>
        </p:nvSpPr>
        <p:spPr>
          <a:xfrm>
            <a:off x="3433159" y="5065271"/>
            <a:ext cx="30903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World Bank Group</a:t>
            </a:r>
            <a:endParaRPr sz="1800" dirty="0"/>
          </a:p>
        </p:txBody>
      </p:sp>
      <p:sp>
        <p:nvSpPr>
          <p:cNvPr id="197" name="Google Shape;197;p15"/>
          <p:cNvSpPr txBox="1"/>
          <p:nvPr/>
        </p:nvSpPr>
        <p:spPr>
          <a:xfrm>
            <a:off x="11276048" y="5045194"/>
            <a:ext cx="30903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D4D47"/>
                </a:solidFill>
                <a:latin typeface="Space Mono"/>
                <a:sym typeface="Space Mono"/>
              </a:rPr>
              <a:t>Our World in Data</a:t>
            </a:r>
            <a:endParaRPr sz="1800" dirty="0"/>
          </a:p>
        </p:txBody>
      </p:sp>
      <p:grpSp>
        <p:nvGrpSpPr>
          <p:cNvPr id="198" name="Google Shape;198;p15"/>
          <p:cNvGrpSpPr/>
          <p:nvPr/>
        </p:nvGrpSpPr>
        <p:grpSpPr>
          <a:xfrm>
            <a:off x="7147432" y="5314914"/>
            <a:ext cx="3504681" cy="3784832"/>
            <a:chOff x="0" y="-57150"/>
            <a:chExt cx="949270" cy="1025151"/>
          </a:xfrm>
        </p:grpSpPr>
        <p:sp>
          <p:nvSpPr>
            <p:cNvPr id="199" name="Google Shape;199;p15"/>
            <p:cNvSpPr/>
            <p:nvPr/>
          </p:nvSpPr>
          <p:spPr>
            <a:xfrm>
              <a:off x="0" y="0"/>
              <a:ext cx="949270" cy="968001"/>
            </a:xfrm>
            <a:custGeom>
              <a:avLst/>
              <a:gdLst/>
              <a:ahLst/>
              <a:cxnLst/>
              <a:rect l="l" t="t" r="r" b="b"/>
              <a:pathLst>
                <a:path w="949270" h="968001" extrusionOk="0">
                  <a:moveTo>
                    <a:pt x="66271" y="0"/>
                  </a:moveTo>
                  <a:lnTo>
                    <a:pt x="882999" y="0"/>
                  </a:lnTo>
                  <a:cubicBezTo>
                    <a:pt x="919600" y="0"/>
                    <a:pt x="949270" y="29670"/>
                    <a:pt x="949270" y="66271"/>
                  </a:cubicBezTo>
                  <a:lnTo>
                    <a:pt x="949270" y="901731"/>
                  </a:lnTo>
                  <a:cubicBezTo>
                    <a:pt x="949270" y="919307"/>
                    <a:pt x="942288" y="936163"/>
                    <a:pt x="929860" y="948591"/>
                  </a:cubicBezTo>
                  <a:cubicBezTo>
                    <a:pt x="917432" y="961019"/>
                    <a:pt x="900576" y="968001"/>
                    <a:pt x="882999" y="968001"/>
                  </a:cubicBezTo>
                  <a:lnTo>
                    <a:pt x="66271" y="968001"/>
                  </a:lnTo>
                  <a:cubicBezTo>
                    <a:pt x="48695" y="968001"/>
                    <a:pt x="31838" y="961019"/>
                    <a:pt x="19410" y="948591"/>
                  </a:cubicBezTo>
                  <a:cubicBezTo>
                    <a:pt x="6982" y="936163"/>
                    <a:pt x="0" y="919307"/>
                    <a:pt x="0" y="901731"/>
                  </a:cubicBezTo>
                  <a:lnTo>
                    <a:pt x="0" y="66271"/>
                  </a:lnTo>
                  <a:cubicBezTo>
                    <a:pt x="0" y="48695"/>
                    <a:pt x="6982" y="31838"/>
                    <a:pt x="19410" y="19410"/>
                  </a:cubicBezTo>
                  <a:cubicBezTo>
                    <a:pt x="31838" y="6982"/>
                    <a:pt x="48695" y="0"/>
                    <a:pt x="66271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5"/>
            <p:cNvSpPr txBox="1"/>
            <p:nvPr/>
          </p:nvSpPr>
          <p:spPr>
            <a:xfrm>
              <a:off x="0" y="-57150"/>
              <a:ext cx="949270" cy="1025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15"/>
          <p:cNvSpPr txBox="1"/>
          <p:nvPr/>
        </p:nvSpPr>
        <p:spPr>
          <a:xfrm>
            <a:off x="7354621" y="7796137"/>
            <a:ext cx="30903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International Energy Agency</a:t>
            </a:r>
            <a:endParaRPr lang="en-US" sz="2400" dirty="0"/>
          </a:p>
        </p:txBody>
      </p:sp>
      <p:sp>
        <p:nvSpPr>
          <p:cNvPr id="207" name="Google Shape;207;p15"/>
          <p:cNvSpPr txBox="1"/>
          <p:nvPr/>
        </p:nvSpPr>
        <p:spPr>
          <a:xfrm>
            <a:off x="13481045" y="7250705"/>
            <a:ext cx="3090300" cy="78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9" b="1" i="0" u="none" strike="noStrike" cap="none" dirty="0">
                <a:solidFill>
                  <a:srgbClr val="0D4D47"/>
                </a:solidFill>
                <a:latin typeface="Space Mono"/>
                <a:ea typeface="Space Mono"/>
                <a:cs typeface="Space Mono"/>
                <a:sym typeface="Space Mono"/>
              </a:rPr>
              <a:t>Understanding the magnitude of the effects</a:t>
            </a:r>
            <a:endParaRPr dirty="0"/>
          </a:p>
        </p:txBody>
      </p:sp>
      <p:cxnSp>
        <p:nvCxnSpPr>
          <p:cNvPr id="208" name="Google Shape;208;p15"/>
          <p:cNvCxnSpPr/>
          <p:nvPr/>
        </p:nvCxnSpPr>
        <p:spPr>
          <a:xfrm>
            <a:off x="4978309" y="6499621"/>
            <a:ext cx="2169123" cy="813207"/>
          </a:xfrm>
          <a:prstGeom prst="straightConnector1">
            <a:avLst/>
          </a:prstGeom>
          <a:noFill/>
          <a:ln w="57150" cap="flat" cmpd="sng">
            <a:solidFill>
              <a:srgbClr val="E4F925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9" name="Google Shape;209;p15"/>
          <p:cNvCxnSpPr/>
          <p:nvPr/>
        </p:nvCxnSpPr>
        <p:spPr>
          <a:xfrm rot="10800000" flipH="1">
            <a:off x="8899772" y="4712703"/>
            <a:ext cx="2169123" cy="813207"/>
          </a:xfrm>
          <a:prstGeom prst="straightConnector1">
            <a:avLst/>
          </a:prstGeom>
          <a:noFill/>
          <a:ln w="57150" cap="flat" cmpd="sng">
            <a:solidFill>
              <a:srgbClr val="E4F925"/>
            </a:solidFill>
            <a:prstDash val="dot"/>
            <a:round/>
            <a:headEnd type="none" w="sm" len="sm"/>
            <a:tailEnd type="none" w="sm" len="sm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C402D9F-65EB-C59B-ACF5-F49C093B9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317" y="3418835"/>
            <a:ext cx="1209981" cy="1209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BD2066-C04B-7C48-676C-756F95495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640" y="6136876"/>
            <a:ext cx="1190263" cy="11902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0F0F12-1A09-EFBF-C024-6A643B2BB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6104" y="3522440"/>
            <a:ext cx="1190263" cy="1190263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D47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6025"/>
            <a:ext cx="18288000" cy="1040302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6"/>
          <p:cNvSpPr txBox="1"/>
          <p:nvPr/>
        </p:nvSpPr>
        <p:spPr>
          <a:xfrm>
            <a:off x="2354410" y="4531747"/>
            <a:ext cx="13579079" cy="110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96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Thank You</a:t>
            </a:r>
            <a:endParaRPr dirty="0"/>
          </a:p>
        </p:txBody>
      </p:sp>
      <p:sp>
        <p:nvSpPr>
          <p:cNvPr id="223" name="Google Shape;223;p16"/>
          <p:cNvSpPr txBox="1"/>
          <p:nvPr/>
        </p:nvSpPr>
        <p:spPr>
          <a:xfrm>
            <a:off x="4782820" y="8353293"/>
            <a:ext cx="87225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i="0" u="none" strike="noStrike" cap="none" dirty="0">
                <a:solidFill>
                  <a:srgbClr val="E4F925"/>
                </a:solidFill>
                <a:latin typeface="Work Sans"/>
                <a:ea typeface="Work Sans"/>
                <a:cs typeface="Work Sans"/>
                <a:sym typeface="Work Sans"/>
              </a:rPr>
              <a:t>REZA BARZEGAR 65118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dirty="0">
                <a:solidFill>
                  <a:srgbClr val="E4F925"/>
                </a:solidFill>
                <a:latin typeface="Work Sans"/>
                <a:sym typeface="Work Sans"/>
              </a:rPr>
              <a:t>CHENG QIAN 59040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dirty="0">
                <a:solidFill>
                  <a:srgbClr val="E4F925"/>
                </a:solidFill>
                <a:latin typeface="Work Sans"/>
                <a:sym typeface="Work Sans"/>
              </a:rPr>
              <a:t>PAULINA KALIWODA 66692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dirty="0">
                <a:solidFill>
                  <a:srgbClr val="E4F925"/>
                </a:solidFill>
                <a:latin typeface="Work Sans"/>
                <a:sym typeface="Work Sans"/>
              </a:rPr>
              <a:t>DANIL DEDOV 65109</a:t>
            </a:r>
          </a:p>
        </p:txBody>
      </p:sp>
      <p:sp>
        <p:nvSpPr>
          <p:cNvPr id="2" name="Google Shape;100;p12">
            <a:extLst>
              <a:ext uri="{FF2B5EF4-FFF2-40B4-BE49-F238E27FC236}">
                <a16:creationId xmlns:a16="http://schemas.microsoft.com/office/drawing/2014/main" id="{2E2C9933-B8D1-5BD3-2704-44F2CC144D21}"/>
              </a:ext>
            </a:extLst>
          </p:cNvPr>
          <p:cNvSpPr txBox="1"/>
          <p:nvPr/>
        </p:nvSpPr>
        <p:spPr>
          <a:xfrm>
            <a:off x="7837017" y="712675"/>
            <a:ext cx="2613866" cy="553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9" b="1" i="0" u="none" strike="noStrike" cap="none" dirty="0">
                <a:solidFill>
                  <a:srgbClr val="E4F925"/>
                </a:solidFill>
                <a:latin typeface="Space Mono"/>
                <a:ea typeface="Space Mono"/>
                <a:cs typeface="Space Mono"/>
                <a:sym typeface="Space Mono"/>
              </a:rPr>
              <a:t>Programming for Data Science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127</Words>
  <Application>Microsoft Macintosh PowerPoint</Application>
  <PresentationFormat>Custom</PresentationFormat>
  <Paragraphs>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Space Mono</vt:lpstr>
      <vt:lpstr>Work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CHENG QIAN</cp:lastModifiedBy>
  <cp:revision>2</cp:revision>
  <dcterms:modified xsi:type="dcterms:W3CDTF">2026-03-17T09:25:46Z</dcterms:modified>
</cp:coreProperties>
</file>